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1CB374"/>
          </a:solidFill>
          <a:ln>
            <a:solidFill>
              <a:srgbClr val="1CB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EcoSafe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Soutenance du projet mobile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3474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Une application qui compare les trajets selon la securite, le CO2 et les points gagnes.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834640"/>
            <a:ext cx="105156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51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2754C"/>
                </a:solidFill>
                <a:latin typeface="Aptos"/>
              </a:rPr>
              <a:t>Equipe de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83080" y="2834640"/>
            <a:ext cx="150876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83080" y="2852928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2754C"/>
                </a:solidFill>
                <a:latin typeface="Aptos"/>
              </a:rPr>
              <a:t>Flutter + Firebase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73552"/>
            <a:ext cx="182880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291840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2754C"/>
                </a:solidFill>
                <a:latin typeface="Aptos"/>
              </a:rPr>
              <a:t>Securite + Ecologie</a:t>
            </a:r>
          </a:p>
        </p:txBody>
      </p:sp>
      <p:pic>
        <p:nvPicPr>
          <p:cNvPr id="12" name="Picture 11" descr="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114800"/>
            <a:ext cx="1097280" cy="10972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572000" y="411480"/>
            <a:ext cx="7040880" cy="6035040"/>
          </a:xfrm>
          <a:prstGeom prst="round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1_car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5734" y="658368"/>
            <a:ext cx="2492931" cy="5394960"/>
          </a:xfrm>
          <a:prstGeom prst="rect">
            <a:avLst/>
          </a:prstGeom>
        </p:spPr>
      </p:pic>
      <p:pic>
        <p:nvPicPr>
          <p:cNvPr id="15" name="Picture 14" descr="02_trans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5756" y="1005840"/>
            <a:ext cx="2345045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B263B"/>
                </a:solidFill>
                <a:latin typeface="Aptos Display"/>
              </a:rPr>
              <a:t>Le Projet En Une Idee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7772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78C"/>
                </a:solidFill>
                <a:latin typeface="Aptos"/>
              </a:rPr>
              <a:t>Une navigation plus utile pour les deplacements du quotidien.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347472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B263B"/>
                </a:solidFill>
                <a:latin typeface="Aptos"/>
              </a:rPr>
              <a:t>Le besoin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20240"/>
            <a:ext cx="30175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02996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B778C"/>
                </a:solidFill>
                <a:latin typeface="Aptos"/>
              </a:rPr>
              <a:t>Probleme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231136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49022"/>
                </a:solidFill>
                <a:latin typeface="Aptos Display"/>
              </a:rPr>
              <a:t>Quel trajet choisir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57860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E4859"/>
                </a:solidFill>
                <a:latin typeface="Aptos"/>
              </a:rPr>
              <a:t>Le plus rapide n'est pas toujours le plus sur.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017520"/>
            <a:ext cx="30175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312724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B778C"/>
                </a:solidFill>
                <a:latin typeface="Aptos"/>
              </a:rPr>
              <a:t>Probleme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328416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B374"/>
                </a:solidFill>
                <a:latin typeface="Aptos Display"/>
              </a:rPr>
              <a:t>Impact CO2 peu visible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367588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E4859"/>
                </a:solidFill>
                <a:latin typeface="Aptos"/>
              </a:rPr>
              <a:t>On veut rendre le cout environnemental concret.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114800"/>
            <a:ext cx="30175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422452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B778C"/>
                </a:solidFill>
                <a:latin typeface="Aptos"/>
              </a:rPr>
              <a:t>Probleme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4425696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2A73FF"/>
                </a:solidFill>
                <a:latin typeface="Aptos Display"/>
              </a:rPr>
              <a:t>Peu de motivation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477316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E4859"/>
                </a:solidFill>
                <a:latin typeface="Aptos"/>
              </a:rPr>
              <a:t>Les points et recompenses poussent aux bons choix.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234440"/>
            <a:ext cx="73152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146304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B263B"/>
                </a:solidFill>
                <a:latin typeface="Aptos"/>
              </a:rPr>
              <a:t>Notre reponse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1874519"/>
            <a:ext cx="868680" cy="310896"/>
          </a:xfrm>
          <a:prstGeom prst="roundRect">
            <a:avLst/>
          </a:prstGeom>
          <a:solidFill>
            <a:srgbClr val="1CB374"/>
          </a:solidFill>
          <a:ln>
            <a:solidFill>
              <a:srgbClr val="1CB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1892807"/>
            <a:ext cx="868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Comparer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32120" y="1874519"/>
            <a:ext cx="868680" cy="310896"/>
          </a:xfrm>
          <a:prstGeom prst="roundRect">
            <a:avLst/>
          </a:prstGeom>
          <a:solidFill>
            <a:srgbClr val="2A73FF"/>
          </a:solidFill>
          <a:ln>
            <a:solidFill>
              <a:srgbClr val="2A7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0" y="1892807"/>
            <a:ext cx="868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Mesurer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1874519"/>
            <a:ext cx="1143000" cy="310896"/>
          </a:xfrm>
          <a:prstGeom prst="roundRect">
            <a:avLst/>
          </a:prstGeom>
          <a:solidFill>
            <a:srgbClr val="F49022"/>
          </a:solidFill>
          <a:ln>
            <a:solidFill>
              <a:srgbClr val="F49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1892807"/>
            <a:ext cx="1143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Recompenser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2331720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B263B"/>
                </a:solidFill>
                <a:latin typeface="Aptos"/>
              </a:rPr>
              <a:t>Carte interactive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2578608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78C"/>
                </a:solidFill>
                <a:latin typeface="Aptos"/>
              </a:rPr>
              <a:t>Plusieurs options de trajet a partir d'un depart et d'une arrivee.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3246120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B263B"/>
                </a:solidFill>
                <a:latin typeface="Aptos"/>
              </a:rPr>
              <a:t>Score securite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3493008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78C"/>
                </a:solidFill>
                <a:latin typeface="Aptos"/>
              </a:rPr>
              <a:t>L'eclairage, le trafic, la frequentation et les pistes cyclables sont combines.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251960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B263B"/>
                </a:solidFill>
                <a:latin typeface="Aptos"/>
              </a:rPr>
              <a:t>Points &amp; boutique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4498848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78C"/>
                </a:solidFill>
                <a:latin typeface="Aptos"/>
              </a:rPr>
              <a:t>Les choix eco et surs rapportent des points utilisables dans la boutique.</a:t>
            </a:r>
          </a:p>
        </p:txBody>
      </p:sp>
      <p:pic>
        <p:nvPicPr>
          <p:cNvPr id="32" name="Picture 31" descr="05_boutiq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9045" y="1737360"/>
            <a:ext cx="1901388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B263B"/>
                </a:solidFill>
                <a:latin typeface="Aptos Display"/>
              </a:rPr>
              <a:t>Fonctionnement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7772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78C"/>
                </a:solidFill>
                <a:latin typeface="Aptos"/>
              </a:rPr>
              <a:t>Un parcours simple, de la recherche au gain de points.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417320"/>
            <a:ext cx="384048" cy="384048"/>
          </a:xfrm>
          <a:prstGeom prst="ellipse">
            <a:avLst/>
          </a:prstGeom>
          <a:solidFill>
            <a:srgbClr val="1CB374"/>
          </a:solidFill>
          <a:ln>
            <a:solidFill>
              <a:srgbClr val="1CB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399032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263B"/>
                </a:solidFill>
                <a:latin typeface="Aptos"/>
              </a:rPr>
              <a:t>Choisir un trajet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18488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78C"/>
                </a:solidFill>
                <a:latin typeface="Aptos"/>
              </a:rPr>
              <a:t>Depart, arrivee, mode de transport.</a:t>
            </a:r>
          </a:p>
        </p:txBody>
      </p:sp>
      <p:sp>
        <p:nvSpPr>
          <p:cNvPr id="8" name="Oval 7"/>
          <p:cNvSpPr/>
          <p:nvPr/>
        </p:nvSpPr>
        <p:spPr>
          <a:xfrm>
            <a:off x="3154680" y="1417320"/>
            <a:ext cx="384048" cy="384048"/>
          </a:xfrm>
          <a:prstGeom prst="ellipse">
            <a:avLst/>
          </a:prstGeom>
          <a:solidFill>
            <a:srgbClr val="2A73FF"/>
          </a:solidFill>
          <a:ln>
            <a:solidFill>
              <a:srgbClr val="2A7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54680" y="1463040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399032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263B"/>
                </a:solidFill>
                <a:latin typeface="Aptos"/>
              </a:rPr>
              <a:t>Comparer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618488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78C"/>
                </a:solidFill>
                <a:latin typeface="Aptos"/>
              </a:rPr>
              <a:t>CO2, securite, duree et points.</a:t>
            </a:r>
          </a:p>
        </p:txBody>
      </p:sp>
      <p:sp>
        <p:nvSpPr>
          <p:cNvPr id="12" name="Oval 11"/>
          <p:cNvSpPr/>
          <p:nvPr/>
        </p:nvSpPr>
        <p:spPr>
          <a:xfrm>
            <a:off x="5577840" y="1417320"/>
            <a:ext cx="384048" cy="384048"/>
          </a:xfrm>
          <a:prstGeom prst="ellipse">
            <a:avLst/>
          </a:prstGeom>
          <a:solidFill>
            <a:srgbClr val="F49022"/>
          </a:solidFill>
          <a:ln>
            <a:solidFill>
              <a:srgbClr val="F49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0" y="1463040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399032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263B"/>
                </a:solidFill>
                <a:latin typeface="Aptos"/>
              </a:rPr>
              <a:t>Selectionner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18488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78C"/>
                </a:solidFill>
                <a:latin typeface="Aptos"/>
              </a:rPr>
              <a:t>L'utilisateur choisit l'option la plus interessante.</a:t>
            </a:r>
          </a:p>
        </p:txBody>
      </p:sp>
      <p:sp>
        <p:nvSpPr>
          <p:cNvPr id="16" name="Oval 15"/>
          <p:cNvSpPr/>
          <p:nvPr/>
        </p:nvSpPr>
        <p:spPr>
          <a:xfrm>
            <a:off x="8001000" y="1417320"/>
            <a:ext cx="384048" cy="384048"/>
          </a:xfrm>
          <a:prstGeom prst="ellipse">
            <a:avLst/>
          </a:prstGeom>
          <a:solidFill>
            <a:srgbClr val="12754C"/>
          </a:solidFill>
          <a:ln>
            <a:solidFill>
              <a:srgbClr val="127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1463040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1399032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263B"/>
                </a:solidFill>
                <a:latin typeface="Aptos"/>
              </a:rPr>
              <a:t>Cumuler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1618488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78C"/>
                </a:solidFill>
                <a:latin typeface="Aptos"/>
              </a:rPr>
              <a:t>Les points alimentent le profil et la boutique.</a:t>
            </a:r>
          </a:p>
        </p:txBody>
      </p:sp>
      <p:pic>
        <p:nvPicPr>
          <p:cNvPr id="20" name="Picture 19" descr="01_car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991" y="2743200"/>
            <a:ext cx="1605617" cy="3474720"/>
          </a:xfrm>
          <a:prstGeom prst="rect">
            <a:avLst/>
          </a:prstGeom>
        </p:spPr>
      </p:pic>
      <p:pic>
        <p:nvPicPr>
          <p:cNvPr id="21" name="Picture 20" descr="02_trans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6311" y="2743200"/>
            <a:ext cx="1605617" cy="3474720"/>
          </a:xfrm>
          <a:prstGeom prst="rect">
            <a:avLst/>
          </a:prstGeom>
        </p:spPr>
      </p:pic>
      <p:pic>
        <p:nvPicPr>
          <p:cNvPr id="22" name="Picture 21" descr="05_boutiq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1191" y="2743200"/>
            <a:ext cx="1605617" cy="347472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5715000" y="2926080"/>
            <a:ext cx="1920240" cy="3108960"/>
          </a:xfrm>
          <a:prstGeom prst="roundRect">
            <a:avLst/>
          </a:prstGeom>
          <a:solidFill>
            <a:srgbClr val="E8F7F0"/>
          </a:solidFill>
          <a:ln>
            <a:solidFill>
              <a:srgbClr val="E8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25312" y="3154680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754C"/>
                </a:solidFill>
                <a:latin typeface="Aptos"/>
              </a:rPr>
              <a:t>Resultat attendu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25312" y="3657600"/>
            <a:ext cx="1417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3E4859"/>
                </a:solidFill>
                <a:latin typeface="Aptos"/>
              </a:rPr>
              <a:t>Un trajet plus clair a comprendre,
plus responsable,
et plus engageant pour l'utilisateur.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B263B"/>
                </a:solidFill>
                <a:latin typeface="Aptos Display"/>
              </a:rPr>
              <a:t>Pages Principales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7772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78C"/>
                </a:solidFill>
                <a:latin typeface="Aptos"/>
              </a:rPr>
              <a:t>Des ecrans courts, visuels et centres sur la decision.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205740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63B"/>
                </a:solidFill>
                <a:latin typeface="Aptos"/>
              </a:rPr>
              <a:t>Carte</a:t>
            </a:r>
          </a:p>
        </p:txBody>
      </p:sp>
      <p:pic>
        <p:nvPicPr>
          <p:cNvPr id="6" name="Picture 5" descr="01_car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775" y="1691640"/>
            <a:ext cx="1499984" cy="3246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926080" y="1280160"/>
            <a:ext cx="205740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63240" y="141732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63B"/>
                </a:solidFill>
                <a:latin typeface="Aptos"/>
              </a:rPr>
              <a:t>Transport</a:t>
            </a:r>
          </a:p>
        </p:txBody>
      </p:sp>
      <p:pic>
        <p:nvPicPr>
          <p:cNvPr id="9" name="Picture 8" descr="02_trans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215" y="1691640"/>
            <a:ext cx="1499984" cy="32461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03520" y="1280160"/>
            <a:ext cx="205740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40680" y="141732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63B"/>
                </a:solidFill>
                <a:latin typeface="Aptos"/>
              </a:rPr>
              <a:t>Boutique</a:t>
            </a:r>
          </a:p>
        </p:txBody>
      </p:sp>
      <p:pic>
        <p:nvPicPr>
          <p:cNvPr id="12" name="Picture 11" descr="05_boutiq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655" y="1691640"/>
            <a:ext cx="1499984" cy="32461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772400" y="1280160"/>
            <a:ext cx="38404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153619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B263B"/>
                </a:solidFill>
                <a:latin typeface="Aptos"/>
              </a:rPr>
              <a:t>Module securite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1920240"/>
            <a:ext cx="1645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754C"/>
                </a:solidFill>
                <a:latin typeface="Aptos"/>
              </a:rPr>
              <a:t>Score moyen
Critere par critere
Alertes meteo et trafic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337560"/>
            <a:ext cx="38404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359359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B263B"/>
                </a:solidFill>
                <a:latin typeface="Aptos"/>
              </a:rPr>
              <a:t>Profil &amp; stats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3977639"/>
            <a:ext cx="1645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A73FF"/>
                </a:solidFill>
                <a:latin typeface="Aptos"/>
              </a:rPr>
              <a:t>Points cumules
CO2 economise
Suivi hebdo et mensuel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5394960"/>
            <a:ext cx="3840480" cy="621792"/>
          </a:xfrm>
          <a:prstGeom prst="roundRect">
            <a:avLst/>
          </a:prstGeom>
          <a:solidFill>
            <a:srgbClr val="1CB374"/>
          </a:solidFill>
          <a:ln>
            <a:solidFill>
              <a:srgbClr val="1CB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79" y="5559552"/>
            <a:ext cx="3474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L'app couvre tout le cycle : chercher, choisir, gagner, suivre.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B263B"/>
                </a:solidFill>
                <a:latin typeface="Aptos Display"/>
              </a:rPr>
              <a:t>Comment La Securite Est Calculee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7772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78C"/>
                </a:solidFill>
                <a:latin typeface="Aptos"/>
              </a:rPr>
              <a:t>Le score final est sur 100.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10972800" cy="960120"/>
          </a:xfrm>
          <a:prstGeom prst="roundRect">
            <a:avLst/>
          </a:prstGeom>
          <a:solidFill>
            <a:srgbClr val="E8F7F0"/>
          </a:solidFill>
          <a:ln>
            <a:solidFill>
              <a:srgbClr val="E8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2754C"/>
                </a:solidFill>
                <a:latin typeface="Aptos"/>
              </a:rPr>
              <a:t>Score = (eclairage x 30%) + ((1 - trafic) x 25%) + (frequentation x 20%) + (piste cyclable x 25%)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514600"/>
            <a:ext cx="2651760" cy="1874519"/>
          </a:xfrm>
          <a:prstGeom prst="roundRect">
            <a:avLst/>
          </a:prstGeom>
          <a:solidFill>
            <a:srgbClr val="FFF3E3"/>
          </a:solidFill>
          <a:ln>
            <a:solidFill>
              <a:srgbClr val="FFF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743200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B263B"/>
                </a:solidFill>
                <a:latin typeface="Aptos"/>
              </a:rPr>
              <a:t>Eclairage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3072384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49022"/>
                </a:solidFill>
                <a:latin typeface="Aptos Display"/>
              </a:rPr>
              <a:t>30%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3474720"/>
            <a:ext cx="2240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E4859"/>
                </a:solidFill>
                <a:latin typeface="Aptos"/>
              </a:rPr>
              <a:t>Plus il y a de lampadaires, meilleur est le score.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514600"/>
            <a:ext cx="2651760" cy="1874519"/>
          </a:xfrm>
          <a:prstGeom prst="roundRect">
            <a:avLst/>
          </a:prstGeom>
          <a:solidFill>
            <a:srgbClr val="E9F1FF"/>
          </a:solidFill>
          <a:ln>
            <a:solidFill>
              <a:srgbClr val="E9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2743200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B263B"/>
                </a:solidFill>
                <a:latin typeface="Aptos"/>
              </a:rPr>
              <a:t>Trafic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3072384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A73FF"/>
                </a:solidFill>
                <a:latin typeface="Aptos Display"/>
              </a:rPr>
              <a:t>25%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3474720"/>
            <a:ext cx="2240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E4859"/>
                </a:solidFill>
                <a:latin typeface="Aptos"/>
              </a:rPr>
              <a:t>Un trafic fort reduit la securite.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514600"/>
            <a:ext cx="2651760" cy="1874519"/>
          </a:xfrm>
          <a:prstGeom prst="roundRect">
            <a:avLst/>
          </a:prstGeom>
          <a:solidFill>
            <a:srgbClr val="E8F7F0"/>
          </a:solidFill>
          <a:ln>
            <a:solidFill>
              <a:srgbClr val="E8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2743200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B263B"/>
                </a:solidFill>
                <a:latin typeface="Aptos"/>
              </a:rPr>
              <a:t>Frequentation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3072384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2754C"/>
                </a:solidFill>
                <a:latin typeface="Aptos Display"/>
              </a:rPr>
              <a:t>20%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3474720"/>
            <a:ext cx="2240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E4859"/>
                </a:solidFill>
                <a:latin typeface="Aptos"/>
              </a:rPr>
              <a:t>Une zone plus vivante est souvent plus rassurante.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2514600"/>
            <a:ext cx="2651760" cy="1874519"/>
          </a:xfrm>
          <a:prstGeom prst="roundRect">
            <a:avLst/>
          </a:prstGeom>
          <a:solidFill>
            <a:srgbClr val="F0ECFF"/>
          </a:solidFill>
          <a:ln>
            <a:solidFill>
              <a:srgbClr val="F0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9992" y="2743200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B263B"/>
                </a:solidFill>
                <a:latin typeface="Aptos"/>
              </a:rPr>
              <a:t>Piste cyclable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9992" y="3072384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7059D7"/>
                </a:solidFill>
                <a:latin typeface="Aptos Display"/>
              </a:rPr>
              <a:t>25%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2" y="3474720"/>
            <a:ext cx="2240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E4859"/>
                </a:solidFill>
                <a:latin typeface="Aptos"/>
              </a:rPr>
              <a:t>Une vraie infrastructure velo augmente la securite.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846320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07492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B263B"/>
                </a:solidFill>
                <a:latin typeface="Aptos"/>
              </a:rPr>
              <a:t>Penalites meteo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440680"/>
            <a:ext cx="1463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65A5A"/>
                </a:solidFill>
                <a:latin typeface="Aptos"/>
              </a:rPr>
              <a:t>Orage : -20
Pluie : -10
Nuit : -15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5468112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78C"/>
                </a:solidFill>
                <a:latin typeface="Aptos"/>
              </a:rPr>
              <a:t>Le score est ensuite limite entre 0 et 100.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846320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507492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B263B"/>
                </a:solidFill>
                <a:latin typeface="Aptos"/>
              </a:rPr>
              <a:t>Lecture simple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5440680"/>
            <a:ext cx="1920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754C"/>
                </a:solidFill>
                <a:latin typeface="Aptos"/>
              </a:rPr>
              <a:t>90+ : tres sur
75-89 : bon trajet
60-74 : correct
&lt;60 : a eviter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B263B"/>
                </a:solidFill>
                <a:latin typeface="Aptos Display"/>
              </a:rPr>
              <a:t>D'ou Vient Le 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7772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78C"/>
                </a:solidFill>
                <a:latin typeface="Aptos"/>
              </a:rPr>
              <a:t>Le calcul s'appuie sur plusieurs sources.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2880360" cy="3611880"/>
          </a:xfrm>
          <a:prstGeom prst="roundRect">
            <a:avLst/>
          </a:prstGeom>
          <a:solidFill>
            <a:srgbClr val="E8F7F0"/>
          </a:solidFill>
          <a:ln>
            <a:solidFill>
              <a:srgbClr val="E8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754C"/>
                </a:solidFill>
                <a:latin typeface="Aptos"/>
              </a:rPr>
              <a:t>OpenStreetMap / Overpass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24231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E4859"/>
                </a:solidFill>
                <a:latin typeface="Aptos"/>
              </a:rPr>
              <a:t>Lampadaires
Pistes cyclables
Zones pietonnes
Analyse autour d'un rayon de 300 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3360" y="1508760"/>
            <a:ext cx="2880360" cy="3611880"/>
          </a:xfrm>
          <a:prstGeom prst="roundRect">
            <a:avLst/>
          </a:prstGeom>
          <a:solidFill>
            <a:srgbClr val="E9F1FF"/>
          </a:solidFill>
          <a:ln>
            <a:solidFill>
              <a:srgbClr val="E9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1783080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A73FF"/>
                </a:solidFill>
                <a:latin typeface="Aptos"/>
              </a:rPr>
              <a:t>Meteo Open-Meteo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240280"/>
            <a:ext cx="24231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E4859"/>
                </a:solidFill>
                <a:latin typeface="Aptos"/>
              </a:rPr>
              <a:t>Conditions en temps reel
Pluie, orage, neige
Heure du jour pour la penalite nuit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1508760"/>
            <a:ext cx="2880360" cy="3611880"/>
          </a:xfrm>
          <a:prstGeom prst="roundRect">
            <a:avLst/>
          </a:prstGeom>
          <a:solidFill>
            <a:srgbClr val="FFF3E3"/>
          </a:solidFill>
          <a:ln>
            <a:solidFill>
              <a:srgbClr val="FFF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1783080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9022"/>
                </a:solidFill>
                <a:latin typeface="Aptos"/>
              </a:rPr>
              <a:t>Base communautaire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2240280"/>
            <a:ext cx="24231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E4859"/>
                </a:solidFill>
                <a:latin typeface="Aptos"/>
              </a:rPr>
              <a:t>Routes et statistiques
Signalements / donnees en base
Historique des trajets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5532120"/>
            <a:ext cx="100126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5742432"/>
            <a:ext cx="9601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B263B"/>
                </a:solidFill>
                <a:latin typeface="Aptos"/>
              </a:rPr>
              <a:t>Idee cle : l'application ne donne pas juste un itineraire, elle donne un contexte de confiance pour aider l'utilisateur a choisir.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B263B"/>
                </a:solidFill>
                <a:latin typeface="Aptos Display"/>
              </a:rPr>
              <a:t>Comment Le CO2 Est Calcule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7772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78C"/>
                </a:solidFill>
                <a:latin typeface="Aptos"/>
              </a:rPr>
              <a:t>Chaque mode est converti en emission totale pour le trajet.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3657600" cy="914400"/>
          </a:xfrm>
          <a:prstGeom prst="roundRect">
            <a:avLst/>
          </a:prstGeom>
          <a:solidFill>
            <a:srgbClr val="E8F7F0"/>
          </a:solidFill>
          <a:ln>
            <a:solidFill>
              <a:srgbClr val="E8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2754C"/>
                </a:solidFill>
                <a:latin typeface="Aptos"/>
              </a:rPr>
              <a:t>CO2 total = distance x facteur du mode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65960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B778C"/>
                </a:solidFill>
                <a:latin typeface="Aptos"/>
              </a:rPr>
              <a:t>Exemple utilise dans l'ecran Transport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6032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63B"/>
                </a:solidFill>
                <a:latin typeface="Aptos"/>
              </a:rPr>
              <a:t>Facteur CO2 / km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26080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3E4859"/>
                </a:solidFill>
                <a:latin typeface="Aptos"/>
              </a:rPr>
              <a:t>Velo</a:t>
            </a:r>
          </a:p>
        </p:txBody>
      </p:sp>
      <p:sp>
        <p:nvSpPr>
          <p:cNvPr id="9" name="Rectangle 8"/>
          <p:cNvSpPr/>
          <p:nvPr/>
        </p:nvSpPr>
        <p:spPr>
          <a:xfrm>
            <a:off x="1033272" y="3246120"/>
            <a:ext cx="384048" cy="0"/>
          </a:xfrm>
          <a:prstGeom prst="rect">
            <a:avLst/>
          </a:prstGeom>
          <a:solidFill>
            <a:srgbClr val="1CB374"/>
          </a:solidFill>
          <a:ln>
            <a:solidFill>
              <a:srgbClr val="1CB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983480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CB374"/>
                </a:solidFill>
                <a:latin typeface="Aptos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926080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3E4859"/>
                </a:solidFill>
                <a:latin typeface="Aptos"/>
              </a:rPr>
              <a:t>Metro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93392" y="3246120"/>
            <a:ext cx="384048" cy="341985"/>
          </a:xfrm>
          <a:prstGeom prst="rect">
            <a:avLst/>
          </a:prstGeom>
          <a:solidFill>
            <a:srgbClr val="2A73FF"/>
          </a:solidFill>
          <a:ln>
            <a:solidFill>
              <a:srgbClr val="2A7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4983480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A73FF"/>
                </a:solidFill>
                <a:latin typeface="Aptos"/>
              </a:rPr>
              <a:t>0.10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926080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3E4859"/>
                </a:solidFill>
                <a:latin typeface="Aptos"/>
              </a:rPr>
              <a:t>Bus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53512" y="3246120"/>
            <a:ext cx="384048" cy="544068"/>
          </a:xfrm>
          <a:prstGeom prst="rect">
            <a:avLst/>
          </a:prstGeom>
          <a:solidFill>
            <a:srgbClr val="F49022"/>
          </a:solidFill>
          <a:ln>
            <a:solidFill>
              <a:srgbClr val="F49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983480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49022"/>
                </a:solidFill>
                <a:latin typeface="Aptos"/>
              </a:rPr>
              <a:t>0.16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926080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3E4859"/>
                </a:solidFill>
                <a:latin typeface="Aptos"/>
              </a:rPr>
              <a:t>Voiture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13631" y="3246120"/>
            <a:ext cx="384048" cy="1554480"/>
          </a:xfrm>
          <a:prstGeom prst="rect">
            <a:avLst/>
          </a:prstGeom>
          <a:solidFill>
            <a:srgbClr val="E65A5A"/>
          </a:solidFill>
          <a:ln>
            <a:solidFill>
              <a:srgbClr val="E6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39" y="4983480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E65A5A"/>
                </a:solidFill>
                <a:latin typeface="Aptos"/>
              </a:rPr>
              <a:t>0.46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00600" y="1325880"/>
            <a:ext cx="64008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74920" y="164592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B263B"/>
                </a:solidFill>
                <a:latin typeface="Aptos"/>
              </a:rPr>
              <a:t>Lecture du resultat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2011680"/>
            <a:ext cx="5394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E4859"/>
                </a:solidFill>
                <a:latin typeface="Aptos"/>
              </a:rPr>
              <a:t>Le mode le plus propre gagne plus de points eco.
La voiture sert de reference pour mesurer le CO2 evite.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274320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78C"/>
                </a:solidFill>
                <a:latin typeface="Aptos"/>
              </a:rPr>
              <a:t>Dans le comparateur, les options sont ensuite triees par points totaux.</a:t>
            </a:r>
          </a:p>
        </p:txBody>
      </p:sp>
      <p:pic>
        <p:nvPicPr>
          <p:cNvPr id="24" name="Picture 23" descr="02_trans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2167" y="3566160"/>
            <a:ext cx="1246465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B263B"/>
                </a:solidFill>
                <a:latin typeface="Aptos Display"/>
              </a:rPr>
              <a:t>Comment Les Points Sont Calcules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7772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78C"/>
                </a:solidFill>
                <a:latin typeface="Aptos"/>
              </a:rPr>
              <a:t>Le systeme combine l'effort ecologique et la securite.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3035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2754C"/>
                </a:solidFill>
                <a:latin typeface="Aptos"/>
              </a:rPr>
              <a:t>1. Points eco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84831"/>
            <a:ext cx="4480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E4859"/>
                </a:solidFill>
                <a:latin typeface="Aptos"/>
              </a:rPr>
              <a:t>ratio eco = (CO2 voiture - CO2 mode) / CO2 voiture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754C"/>
                </a:solidFill>
                <a:latin typeface="Aptos"/>
              </a:rPr>
              <a:t>points eco = ratio eco x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78C"/>
                </a:solidFill>
                <a:latin typeface="Aptos"/>
              </a:rPr>
              <a:t>Un trajet tres propre peut donc rapporter jusqu'a 25 points eco.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383280"/>
            <a:ext cx="4754880" cy="1783080"/>
          </a:xfrm>
          <a:prstGeom prst="roundRect">
            <a:avLst/>
          </a:prstGeom>
          <a:solidFill>
            <a:srgbClr val="E8F7F0"/>
          </a:solidFill>
          <a:ln>
            <a:solidFill>
              <a:srgbClr val="E8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3611880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B263B"/>
                </a:solidFill>
                <a:latin typeface="Aptos"/>
              </a:rPr>
              <a:t>Exemple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3977639"/>
            <a:ext cx="4297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754C"/>
                </a:solidFill>
                <a:latin typeface="Aptos"/>
              </a:rPr>
              <a:t>Si le velo evite presque tout le CO2 par rapport a la voiture,
il gagne presque 25 points eco.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17320"/>
            <a:ext cx="53035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737360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A73FF"/>
                </a:solidFill>
                <a:latin typeface="Aptos"/>
              </a:rPr>
              <a:t>2. Points securite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48840"/>
            <a:ext cx="2286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A73FF"/>
                </a:solidFill>
                <a:latin typeface="Aptos"/>
              </a:rPr>
              <a:t>90+  -&gt; 15 pts
75-89 -&gt; 8 pts
60-74 -&gt; 5 pts
&lt;60   -&gt; 0 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657600"/>
            <a:ext cx="3291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9022"/>
                </a:solidFill>
                <a:latin typeface="Aptos"/>
              </a:rPr>
              <a:t>3. Total affiche dans l'ecran Transport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00507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E4859"/>
                </a:solidFill>
                <a:latin typeface="Aptos"/>
              </a:rPr>
              <a:t>points totaux = points eco + points securite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370832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9022"/>
                </a:solidFill>
                <a:latin typeface="Aptos"/>
              </a:rPr>
              <a:t>Exemple velo : 25 eco + 15 securite = 40 points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98348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78C"/>
                </a:solidFill>
                <a:latin typeface="Aptos"/>
              </a:rPr>
              <a:t>Note : dans l'historique Firebase, un score resume 50/50 est aussi sauvegarde pour les stats.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B263B"/>
                </a:solidFill>
                <a:latin typeface="Aptos Display"/>
              </a:rPr>
              <a:t>Architecture Et Equipe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7772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78C"/>
                </a:solidFill>
                <a:latin typeface="Aptos"/>
              </a:rPr>
              <a:t>Une repartition claire pour avancer vite a 4.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10972800" cy="1005840"/>
          </a:xfrm>
          <a:prstGeom prst="roundRect">
            <a:avLst/>
          </a:prstGeom>
          <a:solidFill>
            <a:srgbClr val="E9F1FF"/>
          </a:solidFill>
          <a:ln>
            <a:solidFill>
              <a:srgbClr val="E9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673352"/>
            <a:ext cx="10058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A73FF"/>
                </a:solidFill>
                <a:latin typeface="Aptos"/>
              </a:rPr>
              <a:t>Flutter (UI)  -&gt;  Services metier  -&gt;  APIs externes  -&gt;  Firebase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743200"/>
            <a:ext cx="2103120" cy="2468880"/>
          </a:xfrm>
          <a:prstGeom prst="roundRect">
            <a:avLst/>
          </a:prstGeom>
          <a:solidFill>
            <a:srgbClr val="E8F7F0"/>
          </a:solidFill>
          <a:ln>
            <a:solidFill>
              <a:srgbClr val="E8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97180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754C"/>
                </a:solidFill>
                <a:latin typeface="Aptos"/>
              </a:rPr>
              <a:t>Membre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401568"/>
            <a:ext cx="16916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E4859"/>
                </a:solidFill>
                <a:latin typeface="Aptos"/>
              </a:rPr>
              <a:t>Carte
Navigation
Map
Itineraires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2743200"/>
            <a:ext cx="2103120" cy="2468880"/>
          </a:xfrm>
          <a:prstGeom prst="roundRect">
            <a:avLst/>
          </a:prstGeom>
          <a:solidFill>
            <a:srgbClr val="E9F1FF"/>
          </a:solidFill>
          <a:ln>
            <a:solidFill>
              <a:srgbClr val="E9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58184" y="297180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A73FF"/>
                </a:solidFill>
                <a:latin typeface="Aptos"/>
              </a:rPr>
              <a:t>Membre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58184" y="3401568"/>
            <a:ext cx="16916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E4859"/>
                </a:solidFill>
                <a:latin typeface="Aptos"/>
              </a:rPr>
              <a:t>Transport
CO2
Points
Classement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2743200"/>
            <a:ext cx="2103120" cy="2468880"/>
          </a:xfrm>
          <a:prstGeom prst="roundRect">
            <a:avLst/>
          </a:prstGeom>
          <a:solidFill>
            <a:srgbClr val="FFF3E3"/>
          </a:solidFill>
          <a:ln>
            <a:solidFill>
              <a:srgbClr val="FFF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92824" y="297180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9022"/>
                </a:solidFill>
                <a:latin typeface="Aptos"/>
              </a:rPr>
              <a:t>Membre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2824" y="3401568"/>
            <a:ext cx="16916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E4859"/>
                </a:solidFill>
                <a:latin typeface="Aptos"/>
              </a:rPr>
              <a:t>Securite
Profil
Stats
Analyse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81160" y="2743200"/>
            <a:ext cx="2103120" cy="2468880"/>
          </a:xfrm>
          <a:prstGeom prst="roundRect">
            <a:avLst/>
          </a:prstGeom>
          <a:solidFill>
            <a:srgbClr val="EEF7FF"/>
          </a:solidFill>
          <a:ln>
            <a:solidFill>
              <a:srgbClr val="EE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27464" y="297180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96BB1"/>
                </a:solidFill>
                <a:latin typeface="Aptos"/>
              </a:rPr>
              <a:t>Membre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27464" y="3401568"/>
            <a:ext cx="16916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E4859"/>
                </a:solidFill>
                <a:latin typeface="Aptos"/>
              </a:rPr>
              <a:t>Firebase
Boutique
Integration
Finalisation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623560"/>
            <a:ext cx="10927080" cy="594360"/>
          </a:xfrm>
          <a:prstGeom prst="roundRect">
            <a:avLst/>
          </a:prstGeom>
          <a:solidFill>
            <a:srgbClr val="1CB374"/>
          </a:solidFill>
          <a:ln>
            <a:solidFill>
              <a:srgbClr val="1CB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797296"/>
            <a:ext cx="10424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Astuce soutenance : remplacez simplement Membre 1, 2, 3 et 4 par vos vrais noms avant de presenter.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EcoSafe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Ce que l'on montre en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34747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DCE5F1"/>
                </a:solidFill>
                <a:latin typeface="Aptos"/>
              </a:rPr>
              <a:t>1. Recherche d'un trajet
2. Comparaison des modes
3. Lecture du score securite
4. Gain de points
5. Echange dans la boutique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937760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CB374"/>
                </a:solidFill>
                <a:latin typeface="Aptos Display"/>
              </a:rPr>
              <a:t>Merci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4068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Questions ?</a:t>
            </a:r>
          </a:p>
        </p:txBody>
      </p:sp>
      <p:pic>
        <p:nvPicPr>
          <p:cNvPr id="7" name="Picture 6" descr="05_boutiq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214" y="731520"/>
            <a:ext cx="2492931" cy="5394960"/>
          </a:xfrm>
          <a:prstGeom prst="rect">
            <a:avLst/>
          </a:prstGeom>
        </p:spPr>
      </p:pic>
      <p:pic>
        <p:nvPicPr>
          <p:cNvPr id="8" name="Picture 7" descr="02_trans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4920" y="1097280"/>
            <a:ext cx="2323919" cy="502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